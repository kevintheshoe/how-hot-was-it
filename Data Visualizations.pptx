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ACFB-F00C-66C6-AC59-3683B17A62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00E770-CB58-AF2E-E01B-4F7FFEEBB1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B516326-4C01-E04F-B8AD-7DC3DC7DCF70}"/>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5" name="Footer Placeholder 4">
            <a:extLst>
              <a:ext uri="{FF2B5EF4-FFF2-40B4-BE49-F238E27FC236}">
                <a16:creationId xmlns:a16="http://schemas.microsoft.com/office/drawing/2014/main" id="{BD78298F-DA35-3458-C477-14FF8C4744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4690B2-B99C-1FCF-14F1-33BDD22BD9B8}"/>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2509349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A96B3-654E-FFB1-4733-09A1B91ED8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E1BF5E5-6F43-846C-855C-0061054166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AC5DE8-E11C-F364-7553-C2D023C76F49}"/>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5" name="Footer Placeholder 4">
            <a:extLst>
              <a:ext uri="{FF2B5EF4-FFF2-40B4-BE49-F238E27FC236}">
                <a16:creationId xmlns:a16="http://schemas.microsoft.com/office/drawing/2014/main" id="{5F974954-244D-0ED6-30D6-EAB1F95B8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04B8F7-42A7-B304-DDE6-3F2EA4836066}"/>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1544611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3F105-B84B-ED1C-5D9E-9D37438CBB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CCE3FEA-8CDA-1D95-3B9C-148D0C92457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8A1C47F-252E-00F4-9C4F-176BC868B4A1}"/>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5" name="Footer Placeholder 4">
            <a:extLst>
              <a:ext uri="{FF2B5EF4-FFF2-40B4-BE49-F238E27FC236}">
                <a16:creationId xmlns:a16="http://schemas.microsoft.com/office/drawing/2014/main" id="{50D64A37-9BD2-5FFC-8DAE-5B6ADAF575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CA7A3A-0F63-1AA1-8D23-5BA797E004E1}"/>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932881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D09FE-BBB6-0092-F2CB-A9E5B7B5F3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7831B4-9121-21F3-46C2-F5E68DD3B2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0B78DE-4107-50E4-261D-52BA0BADE0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638F7FD-759A-0188-A606-2568B17F6B11}"/>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6" name="Footer Placeholder 5">
            <a:extLst>
              <a:ext uri="{FF2B5EF4-FFF2-40B4-BE49-F238E27FC236}">
                <a16:creationId xmlns:a16="http://schemas.microsoft.com/office/drawing/2014/main" id="{312599AF-D8E2-BEB7-06D9-8A293BE853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DB262D-1E08-8CF1-D030-6567346F92D2}"/>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3870957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F139E-8F86-66F9-E5E6-79947EDFBD1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DC012A-9E5C-4C31-EC6F-267DD44BB1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25A4DC-A930-FBDB-78D5-94DD127FD8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E1760B-CFC3-5B6E-1EF7-FA99D70A6D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F5C833-9EB4-8A02-1C88-A29F98547E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CD51A3-3EBB-3F1A-A654-557905685E57}"/>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8" name="Footer Placeholder 7">
            <a:extLst>
              <a:ext uri="{FF2B5EF4-FFF2-40B4-BE49-F238E27FC236}">
                <a16:creationId xmlns:a16="http://schemas.microsoft.com/office/drawing/2014/main" id="{76D87193-219D-FC62-5136-30E83E1204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D1E96B8-9BEC-8DAF-245D-D387A3F1179F}"/>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1926093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3E86F-E679-E1FF-AA56-CB8F07F6FF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D24F29C-87B7-E080-C2C0-D689512D8BCD}"/>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4" name="Footer Placeholder 3">
            <a:extLst>
              <a:ext uri="{FF2B5EF4-FFF2-40B4-BE49-F238E27FC236}">
                <a16:creationId xmlns:a16="http://schemas.microsoft.com/office/drawing/2014/main" id="{184AE33E-9C23-8179-B462-1F3959107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D7231BD-105C-0137-7A8C-7CCF4226A8C3}"/>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1408320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A266C7-6A19-6B88-98AD-8AFC1367E350}"/>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3" name="Footer Placeholder 2">
            <a:extLst>
              <a:ext uri="{FF2B5EF4-FFF2-40B4-BE49-F238E27FC236}">
                <a16:creationId xmlns:a16="http://schemas.microsoft.com/office/drawing/2014/main" id="{4785EB51-05C7-1CBF-32A5-ADB2B6DAB5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4D295EA-A951-1CF0-82E2-4D2A4D7ABB0B}"/>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36687335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6FF70-230A-4E0F-8392-8C2053ECA7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1176555-9089-71E5-7C91-D7F310B87B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20A17B5-E12C-241A-D83A-2EA70DA868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2996B5-D318-5E7D-5478-8C38F83F58AF}"/>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6" name="Footer Placeholder 5">
            <a:extLst>
              <a:ext uri="{FF2B5EF4-FFF2-40B4-BE49-F238E27FC236}">
                <a16:creationId xmlns:a16="http://schemas.microsoft.com/office/drawing/2014/main" id="{E9EB9160-FA82-0C9E-B744-26CCEE147A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6CEFAB-B0D9-EC61-FFEC-4A0772437845}"/>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38911411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823F9-18FF-9DFB-F318-2F2E7D21C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A5337F-C025-8D1B-2884-FF18B4F26B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38AE57-6893-221F-C851-39696FD2F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3A82CA9-6F19-5D30-23B4-1048839ED8DA}"/>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6" name="Footer Placeholder 5">
            <a:extLst>
              <a:ext uri="{FF2B5EF4-FFF2-40B4-BE49-F238E27FC236}">
                <a16:creationId xmlns:a16="http://schemas.microsoft.com/office/drawing/2014/main" id="{CBAEB54E-1F3B-7832-7F16-517E8F069A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8C513F-2B53-8FA9-C36A-003633601116}"/>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417276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26C66-8216-DF63-D397-1BC95406E7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BB4AD9-5EED-5F64-3DA1-C17244A7EB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58B4F-D47B-734B-7E8B-EB6D8232D819}"/>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5" name="Footer Placeholder 4">
            <a:extLst>
              <a:ext uri="{FF2B5EF4-FFF2-40B4-BE49-F238E27FC236}">
                <a16:creationId xmlns:a16="http://schemas.microsoft.com/office/drawing/2014/main" id="{E64F5FF2-1856-0B95-658B-340843C5F5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DB6DB2-B297-0CAD-2547-C0DF63BEF635}"/>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1412623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4C52D9-C50E-0C50-68C5-309947B45D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411960-FF85-1096-7285-6039F3DD4DF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B6FF3B-25E0-A42E-7FAF-D70B8D48FEA4}"/>
              </a:ext>
            </a:extLst>
          </p:cNvPr>
          <p:cNvSpPr>
            <a:spLocks noGrp="1"/>
          </p:cNvSpPr>
          <p:nvPr>
            <p:ph type="dt" sz="half" idx="10"/>
          </p:nvPr>
        </p:nvSpPr>
        <p:spPr/>
        <p:txBody>
          <a:bodyPr/>
          <a:lstStyle/>
          <a:p>
            <a:fld id="{A87EB8BB-6EEB-4755-96D3-A1CCE471D99E}" type="datetimeFigureOut">
              <a:rPr lang="en-US" smtClean="0"/>
              <a:t>4/13/2026</a:t>
            </a:fld>
            <a:endParaRPr lang="en-US"/>
          </a:p>
        </p:txBody>
      </p:sp>
      <p:sp>
        <p:nvSpPr>
          <p:cNvPr id="5" name="Footer Placeholder 4">
            <a:extLst>
              <a:ext uri="{FF2B5EF4-FFF2-40B4-BE49-F238E27FC236}">
                <a16:creationId xmlns:a16="http://schemas.microsoft.com/office/drawing/2014/main" id="{65F24696-7E4A-F58D-0D73-066F9DDE3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913C1-EBA6-BA1D-9EDD-2A8082532D26}"/>
              </a:ext>
            </a:extLst>
          </p:cNvPr>
          <p:cNvSpPr>
            <a:spLocks noGrp="1"/>
          </p:cNvSpPr>
          <p:nvPr>
            <p:ph type="sldNum" sz="quarter" idx="12"/>
          </p:nvPr>
        </p:nvSpPr>
        <p:spPr/>
        <p:txBody>
          <a:bodyPr/>
          <a:lstStyle/>
          <a:p>
            <a:fld id="{0CB32D64-2E48-4F79-8BE9-B111AE0DB54F}" type="slidenum">
              <a:rPr lang="en-US" smtClean="0"/>
              <a:t>‹#›</a:t>
            </a:fld>
            <a:endParaRPr lang="en-US"/>
          </a:p>
        </p:txBody>
      </p:sp>
    </p:spTree>
    <p:extLst>
      <p:ext uri="{BB962C8B-B14F-4D97-AF65-F5344CB8AC3E}">
        <p14:creationId xmlns:p14="http://schemas.microsoft.com/office/powerpoint/2010/main" val="3066025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0669F2-B2EA-2DB3-B928-7BDA678F46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9A9815-D50D-1110-780D-BC532B247E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5D85C5B-64B2-C000-4A63-B23709C0BB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7EB8BB-6EEB-4755-96D3-A1CCE471D99E}" type="datetimeFigureOut">
              <a:rPr lang="en-US" smtClean="0"/>
              <a:t>4/13/2026</a:t>
            </a:fld>
            <a:endParaRPr lang="en-US"/>
          </a:p>
        </p:txBody>
      </p:sp>
      <p:sp>
        <p:nvSpPr>
          <p:cNvPr id="5" name="Footer Placeholder 4">
            <a:extLst>
              <a:ext uri="{FF2B5EF4-FFF2-40B4-BE49-F238E27FC236}">
                <a16:creationId xmlns:a16="http://schemas.microsoft.com/office/drawing/2014/main" id="{2F20E915-EC9E-CAB5-81CA-FC19CCCEF6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44F9907-6BAC-8E94-77E4-A9B6F6C10D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B32D64-2E48-4F79-8BE9-B111AE0DB54F}" type="slidenum">
              <a:rPr lang="en-US" smtClean="0"/>
              <a:t>‹#›</a:t>
            </a:fld>
            <a:endParaRPr lang="en-US"/>
          </a:p>
        </p:txBody>
      </p:sp>
    </p:spTree>
    <p:extLst>
      <p:ext uri="{BB962C8B-B14F-4D97-AF65-F5344CB8AC3E}">
        <p14:creationId xmlns:p14="http://schemas.microsoft.com/office/powerpoint/2010/main" val="39055510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940A5A-4894-657A-68EC-2E7CDD64C203}"/>
              </a:ext>
            </a:extLst>
          </p:cNvPr>
          <p:cNvSpPr>
            <a:spLocks noGrp="1"/>
          </p:cNvSpPr>
          <p:nvPr>
            <p:ph type="ctrTitle"/>
          </p:nvPr>
        </p:nvSpPr>
        <p:spPr/>
        <p:txBody>
          <a:bodyPr/>
          <a:lstStyle/>
          <a:p>
            <a:r>
              <a:rPr lang="en-US" dirty="0"/>
              <a:t>How Hot Was March?</a:t>
            </a:r>
          </a:p>
        </p:txBody>
      </p:sp>
      <p:sp>
        <p:nvSpPr>
          <p:cNvPr id="3" name="Subtitle 2">
            <a:extLst>
              <a:ext uri="{FF2B5EF4-FFF2-40B4-BE49-F238E27FC236}">
                <a16:creationId xmlns:a16="http://schemas.microsoft.com/office/drawing/2014/main" id="{482E4C8E-EFFF-5B1B-3BEB-61714D634D32}"/>
              </a:ext>
            </a:extLst>
          </p:cNvPr>
          <p:cNvSpPr>
            <a:spLocks noGrp="1"/>
          </p:cNvSpPr>
          <p:nvPr>
            <p:ph type="subTitle" idx="1"/>
          </p:nvPr>
        </p:nvSpPr>
        <p:spPr/>
        <p:txBody>
          <a:bodyPr/>
          <a:lstStyle/>
          <a:p>
            <a:r>
              <a:rPr lang="en-US" dirty="0"/>
              <a:t>Kevin Shu, Jackson Knapp, Max Eiseman</a:t>
            </a:r>
          </a:p>
        </p:txBody>
      </p:sp>
    </p:spTree>
    <p:extLst>
      <p:ext uri="{BB962C8B-B14F-4D97-AF65-F5344CB8AC3E}">
        <p14:creationId xmlns:p14="http://schemas.microsoft.com/office/powerpoint/2010/main" val="30917172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BBDCA63-9E9E-F080-6CF4-3ED89E453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40450"/>
          </a:xfrm>
          <a:prstGeom prst="rect">
            <a:avLst/>
          </a:prstGeom>
        </p:spPr>
      </p:pic>
      <p:sp>
        <p:nvSpPr>
          <p:cNvPr id="4" name="TextBox 3">
            <a:extLst>
              <a:ext uri="{FF2B5EF4-FFF2-40B4-BE49-F238E27FC236}">
                <a16:creationId xmlns:a16="http://schemas.microsoft.com/office/drawing/2014/main" id="{5D8B4A8B-A7BD-947C-1800-687A6809AA56}"/>
              </a:ext>
            </a:extLst>
          </p:cNvPr>
          <p:cNvSpPr txBox="1"/>
          <p:nvPr/>
        </p:nvSpPr>
        <p:spPr>
          <a:xfrm>
            <a:off x="0" y="6140450"/>
            <a:ext cx="12192000" cy="646331"/>
          </a:xfrm>
          <a:prstGeom prst="rect">
            <a:avLst/>
          </a:prstGeom>
          <a:noFill/>
        </p:spPr>
        <p:txBody>
          <a:bodyPr wrap="square" rtlCol="0">
            <a:spAutoFit/>
          </a:bodyPr>
          <a:lstStyle/>
          <a:p>
            <a:pPr algn="ctr"/>
            <a:r>
              <a:rPr lang="en-US" dirty="0"/>
              <a:t>Visualization showing the distributions of March’s high temps across the years in Boulder. 2026 stands out with notably high quartiles and range. Using API data from coagmet.colostate.edu, created by Kevin Shu.</a:t>
            </a:r>
          </a:p>
        </p:txBody>
      </p:sp>
    </p:spTree>
    <p:extLst>
      <p:ext uri="{BB962C8B-B14F-4D97-AF65-F5344CB8AC3E}">
        <p14:creationId xmlns:p14="http://schemas.microsoft.com/office/powerpoint/2010/main" val="15183445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DFF593-53F5-B8AF-911C-17091C32E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40450"/>
          </a:xfrm>
          <a:prstGeom prst="rect">
            <a:avLst/>
          </a:prstGeom>
        </p:spPr>
      </p:pic>
      <p:sp>
        <p:nvSpPr>
          <p:cNvPr id="4" name="TextBox 3">
            <a:extLst>
              <a:ext uri="{FF2B5EF4-FFF2-40B4-BE49-F238E27FC236}">
                <a16:creationId xmlns:a16="http://schemas.microsoft.com/office/drawing/2014/main" id="{8BC4FFC5-1A0E-5379-BAC1-47F7692BD0BE}"/>
              </a:ext>
            </a:extLst>
          </p:cNvPr>
          <p:cNvSpPr txBox="1"/>
          <p:nvPr/>
        </p:nvSpPr>
        <p:spPr>
          <a:xfrm>
            <a:off x="0" y="6140450"/>
            <a:ext cx="12192000" cy="646331"/>
          </a:xfrm>
          <a:prstGeom prst="rect">
            <a:avLst/>
          </a:prstGeom>
          <a:noFill/>
        </p:spPr>
        <p:txBody>
          <a:bodyPr wrap="square" rtlCol="0">
            <a:spAutoFit/>
          </a:bodyPr>
          <a:lstStyle/>
          <a:p>
            <a:pPr algn="ctr"/>
            <a:r>
              <a:rPr lang="en-US" dirty="0"/>
              <a:t>A day-by-day look at March’s high temps in Boulder and how they compare to previous years. Using API data from coagmet.colostate.edu, created by Jackson Knapp.</a:t>
            </a:r>
          </a:p>
        </p:txBody>
      </p:sp>
    </p:spTree>
    <p:extLst>
      <p:ext uri="{BB962C8B-B14F-4D97-AF65-F5344CB8AC3E}">
        <p14:creationId xmlns:p14="http://schemas.microsoft.com/office/powerpoint/2010/main" val="3724574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06198C-F7C3-A673-755C-C8D9B59515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40450"/>
          </a:xfrm>
          <a:prstGeom prst="rect">
            <a:avLst/>
          </a:prstGeom>
        </p:spPr>
      </p:pic>
      <p:sp>
        <p:nvSpPr>
          <p:cNvPr id="5" name="TextBox 4">
            <a:extLst>
              <a:ext uri="{FF2B5EF4-FFF2-40B4-BE49-F238E27FC236}">
                <a16:creationId xmlns:a16="http://schemas.microsoft.com/office/drawing/2014/main" id="{70AC15C2-39E6-96CB-1DF3-275F22CF5D3D}"/>
              </a:ext>
            </a:extLst>
          </p:cNvPr>
          <p:cNvSpPr txBox="1"/>
          <p:nvPr/>
        </p:nvSpPr>
        <p:spPr>
          <a:xfrm>
            <a:off x="0" y="6140450"/>
            <a:ext cx="12192000" cy="646331"/>
          </a:xfrm>
          <a:prstGeom prst="rect">
            <a:avLst/>
          </a:prstGeom>
          <a:noFill/>
        </p:spPr>
        <p:txBody>
          <a:bodyPr wrap="square" rtlCol="0">
            <a:spAutoFit/>
          </a:bodyPr>
          <a:lstStyle/>
          <a:p>
            <a:pPr algn="ctr"/>
            <a:r>
              <a:rPr lang="en-US" dirty="0"/>
              <a:t>The distribution of March’s high temps across the years, averaged across all stations in Colorado. Using CSV data from coagmet.colostate.edu, created by Max Eiseman.</a:t>
            </a:r>
          </a:p>
        </p:txBody>
      </p:sp>
    </p:spTree>
    <p:extLst>
      <p:ext uri="{BB962C8B-B14F-4D97-AF65-F5344CB8AC3E}">
        <p14:creationId xmlns:p14="http://schemas.microsoft.com/office/powerpoint/2010/main" val="3134180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0BB1E3-5344-5D4F-9EC3-0145DEB467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140450"/>
          </a:xfrm>
          <a:prstGeom prst="rect">
            <a:avLst/>
          </a:prstGeom>
        </p:spPr>
      </p:pic>
      <p:sp>
        <p:nvSpPr>
          <p:cNvPr id="4" name="TextBox 3">
            <a:extLst>
              <a:ext uri="{FF2B5EF4-FFF2-40B4-BE49-F238E27FC236}">
                <a16:creationId xmlns:a16="http://schemas.microsoft.com/office/drawing/2014/main" id="{A354922F-E67A-9C50-57AC-2F2696E76848}"/>
              </a:ext>
            </a:extLst>
          </p:cNvPr>
          <p:cNvSpPr txBox="1"/>
          <p:nvPr/>
        </p:nvSpPr>
        <p:spPr>
          <a:xfrm>
            <a:off x="0" y="6140450"/>
            <a:ext cx="12192000" cy="646331"/>
          </a:xfrm>
          <a:prstGeom prst="rect">
            <a:avLst/>
          </a:prstGeom>
          <a:noFill/>
        </p:spPr>
        <p:txBody>
          <a:bodyPr wrap="square" rtlCol="0">
            <a:spAutoFit/>
          </a:bodyPr>
          <a:lstStyle/>
          <a:p>
            <a:pPr algn="ctr"/>
            <a:r>
              <a:rPr lang="en-US" dirty="0"/>
              <a:t>A day-by-day look at March’s high temps in Colorado and how they compare to previous years. Using CSV data from coagmet.colostate.edu, created by Kevin Shu.</a:t>
            </a:r>
          </a:p>
        </p:txBody>
      </p:sp>
    </p:spTree>
    <p:extLst>
      <p:ext uri="{BB962C8B-B14F-4D97-AF65-F5344CB8AC3E}">
        <p14:creationId xmlns:p14="http://schemas.microsoft.com/office/powerpoint/2010/main" val="2997897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148</Words>
  <Application>Microsoft Office PowerPoint</Application>
  <PresentationFormat>Widescreen</PresentationFormat>
  <Paragraphs>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How Hot Was March?</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Kevin Shu</dc:creator>
  <cp:lastModifiedBy>Kevin Shu</cp:lastModifiedBy>
  <cp:revision>2</cp:revision>
  <dcterms:created xsi:type="dcterms:W3CDTF">2026-04-14T01:05:36Z</dcterms:created>
  <dcterms:modified xsi:type="dcterms:W3CDTF">2026-04-14T01:29:04Z</dcterms:modified>
</cp:coreProperties>
</file>